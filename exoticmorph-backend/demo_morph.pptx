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Segoe UI"/>
              </a:defRPr>
            </a:pPr>
            <a:r>
              <a:t>[Slide 1 / 2] Slide 1: Trạng Thái Khởi Đầu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Hình chữ nhật nằm ở góc trên bên trái, màu xanh lá cây. Khi chuyển slide, PowerPoint sẽ đọc ID '!!DemoBox' để kích hoạt hiệu ứng Morph.</a:t>
            </a:r>
          </a:p>
        </p:txBody>
      </p:sp>
      <p:sp>
        <p:nvSpPr>
          <p:cNvPr id="3" name="!!DemoBox"/>
          <p:cNvSpPr/>
          <p:nvPr/>
        </p:nvSpPr>
        <p:spPr>
          <a:xfrm>
            <a:off x="914400" y="2011680"/>
            <a:ext cx="2926080" cy="182880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000">
                <a:solidFill>
                  <a:srgbClr val="FFFFFF"/>
                </a:solidFill>
                <a:latin typeface="Segoe UI"/>
              </a:defRPr>
            </a:pPr>
            <a:r>
              <a:t>Slide 1: Start</a:t>
            </a:r>
          </a:p>
          <a:p>
            <a:pPr algn="ctr">
              <a:spcBef>
                <a:spcPts val="600"/>
              </a:spcBef>
              <a:defRPr sz="1000">
                <a:solidFill>
                  <a:srgbClr val="E6FFF0"/>
                </a:solidFill>
                <a:latin typeface="Segoe UI"/>
              </a:defRPr>
            </a:pPr>
            <a:r>
              <a:t>Position: (1.0", 2.2") | 3.2" x 2.0"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Morph Object Name: !!DemoBox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XML Node: &lt;p:cNvPr name="!!DemoBox"/&gt;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FFFFF"/>
                </a:solidFill>
                <a:latin typeface="Segoe UI"/>
              </a:defRPr>
            </a:pPr>
            <a:r>
              <a:t>[Slide 2 / 2] Slide 2: Trạng Thái Biến Đổi Hoàn Tất (Morph End)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Đối tượng '!!DemoBox' đã tự động di chuyển xuống góc dưới phải, mở rộng gấp đôi kích thước và chuyển màu cam mượt mà.</a:t>
            </a:r>
          </a:p>
        </p:txBody>
      </p:sp>
      <p:sp>
        <p:nvSpPr>
          <p:cNvPr id="3" name="!!DemoBox"/>
          <p:cNvSpPr/>
          <p:nvPr/>
        </p:nvSpPr>
        <p:spPr>
          <a:xfrm>
            <a:off x="5486400" y="2011680"/>
            <a:ext cx="5852160" cy="3657600"/>
          </a:xfrm>
          <a:prstGeom prst="roundRect">
            <a:avLst/>
          </a:prstGeom>
          <a:solidFill>
            <a:srgbClr val="F97316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FFFFFF"/>
                </a:solidFill>
                <a:latin typeface="Segoe UI"/>
              </a:defRPr>
            </a:pPr>
            <a:r>
              <a:t>Slide 2: End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0E6"/>
                </a:solidFill>
                <a:latin typeface="Segoe UI"/>
              </a:defRPr>
            </a:pPr>
            <a:r>
              <a:t>Position: (6.0", 2.2") | 6.4" x 4.0" (2x Size)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E6C8"/>
                </a:solidFill>
                <a:latin typeface="Segoe UI"/>
              </a:defRPr>
            </a:pPr>
            <a:r>
              <a:t>Tự động chuyển đổi mượt mà bằng XML Morphing Engine của PowerPoint!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Thông Số Kỹ Thuật OpenXML: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Morph Matching: Shape Name = '!!DemoBox'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Slide Transition: &lt;p:transition spd="med"&gt;&lt;p:morph option="byObject"/&gt;&lt;/p:transition&gt;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Schema Conformance: Chèn transition sau &lt;p:clrMapOvr&gt;, trước &lt;p:timing&gt; (đúng CT_Slide ISO/IEC)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</a:defRPr>
            </a:pPr>
            <a:r>
              <a:t>• Interpolation: Nội suy đồng thời Position, Size, Color Fill &amp; Font Size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6="http://schemas.microsoft.com/office/powerpoint/2015/09/main" Requires="p16">
      <p:transition xmlns:p14="http://schemas.microsoft.com/office/powerpoint/2010/main" spd="med" p14:dur="1250" advClick="1">
        <p16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